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457200"/>
            <a:ext cx="1371600" cy="137160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69880" y="685800"/>
            <a:ext cx="914400" cy="914400"/>
          </a:xfrm>
          <a:prstGeom prst="ellipse">
            <a:avLst/>
          </a:prstGeom>
          <a:solidFill>
            <a:srgbClr val="0F4C5C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Smart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Daily commercial alerts for 6,000 dental clinics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Inibsa  ·  Interhack BCN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Every morning, a 6,000-clinic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“Which of our clinics should we contact today,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36C3D"/>
                </a:solidFill>
                <a:latin typeface="Calibri"/>
              </a:rPr>
              <a:t>and why?”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Calibri"/>
              </a:rPr>
              <a:t>Today, this is mostly intuition + scattered KPIs.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3383280" cy="155448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4C5C"/>
                </a:solidFill>
                <a:latin typeface="Calibri"/>
              </a:rPr>
              <a:t>6,000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dental clinics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572000"/>
            <a:ext cx="3383280" cy="155448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754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4C5C"/>
                </a:solidFill>
                <a:latin typeface="Calibri"/>
              </a:rPr>
              <a:t>5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486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of sales history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572000"/>
            <a:ext cx="3383280" cy="155448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754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4C5C"/>
                </a:solidFill>
                <a:latin typeface="Calibri"/>
              </a:rPr>
              <a:t>25 SKUs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5486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across 4 sub-families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Two products. Two brains.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6B6B"/>
                </a:solidFill>
                <a:latin typeface="Calibri"/>
              </a:rPr>
              <a:t>The brief insists on it — and the data confirms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394960" cy="466344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COMMODITIES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4C5C"/>
                </a:solidFill>
                <a:latin typeface="Calibri"/>
              </a:rPr>
              <a:t>Anestesia · Bioseguridad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Recurring purchases, predictable consumption.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50292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Compare against the clinic's purchase potential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Loyal: capturing ≥30% of potential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Promiscuous: split with competitors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Marginal: residual buyers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Churn-risk: was active, now silent or dropping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91640"/>
            <a:ext cx="5394960" cy="4663440"/>
          </a:xfrm>
          <a:prstGeom prst="round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PRODUCTOS TÉCNICOS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402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Biomateriales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Sporadic purchases, case-driven demand.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520440"/>
            <a:ext cx="50292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Compare each clinic to its own historical pattern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Year-over-year baseline (neutralises seasonality)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Detect drops in frequency, volume, or absence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Distinguish normal pause vs. real deterioration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Holiday-aware (August, Christmas)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From data to commercial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377440"/>
            <a:ext cx="2297430" cy="182880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F4C5C"/>
                </a:solidFill>
                <a:latin typeface="Calibri"/>
              </a:rPr>
              <a:t>Purchase
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Calibri"/>
              </a:rPr>
              <a:t>5 years × daily granularity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37510" y="3154680"/>
            <a:ext cx="365760" cy="274320"/>
          </a:xfrm>
          <a:prstGeom prst="right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86150" y="2377440"/>
            <a:ext cx="2297430" cy="182880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8615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F4C5C"/>
                </a:solidFill>
                <a:latin typeface="Calibri"/>
              </a:rPr>
              <a:t>Signal
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903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Calibri"/>
              </a:rPr>
              <a:t>Two parallel logics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29300" y="3154680"/>
            <a:ext cx="365760" cy="274320"/>
          </a:xfrm>
          <a:prstGeom prst="right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77940" y="2377440"/>
            <a:ext cx="2297430" cy="182880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794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F4C5C"/>
                </a:solidFill>
                <a:latin typeface="Calibri"/>
              </a:rPr>
              <a:t>Daily
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082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Calibri"/>
              </a:rPr>
              <a:t>Score, reason, channel, traceability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21090" y="3154680"/>
            <a:ext cx="365760" cy="274320"/>
          </a:xfrm>
          <a:prstGeom prst="right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69730" y="2377440"/>
            <a:ext cx="2297430" cy="1828800"/>
          </a:xfrm>
          <a:prstGeom prst="round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973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Commercial
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261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CADCFC"/>
                </a:solidFill>
                <a:latin typeface="Calibri"/>
              </a:rPr>
              <a:t>Delegado · Televenta · 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6B6B"/>
                </a:solidFill>
                <a:latin typeface="Calibri"/>
              </a:rPr>
              <a:t>One function. One date input. End-to-end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What's in an alert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400800" cy="493776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alert_id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69164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"ALT-20251229-000001"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id_cliente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0574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"40439"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42316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"Zaragoza"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familia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"Categoria C2"  (Bioseguridad)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tipo_alerta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15468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"capture_window"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prioridad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52044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"High"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8862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8862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57,875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expected_impact_eur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25196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82,679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canal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461772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"delegado"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98348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contact_window_days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98348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4924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motivo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534924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"Cliente promiscuo: 6% del potencial..."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trace_features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7150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{ share: 0.06, potencial: 87,672, ... 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16916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Decision unit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201168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client × familia × motivo × momento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7432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Prioritisation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06324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score = impact × urgency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Channel routing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delegado / televenta / marketing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8463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Traceability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516636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Every metric that fired the alert is in the trace. Drill into any alert and see the raw numbers. No black box.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48640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Calibri"/>
              </a:rPr>
              <a:t>Generated for 2025-12-29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4,271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alerts generated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1,300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0233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High priority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€11.6M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0233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expected commercial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By alert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silent 827   ·   capture_window 1,024   ·   lost 1,565   ·   churn_risk 472   ·   opportunity_spike 383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Live demo · 3 minutes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777240" cy="77724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9344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463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4C5C"/>
                </a:solidFill>
                <a:latin typeface="Calibri"/>
              </a:rPr>
              <a:t>Daily cadence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6596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Drag the date picker back to 2024-06-30. The alert table changes. Same code, any historical date — the system is idempotent.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017520"/>
            <a:ext cx="777240" cy="77724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63824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4C5C"/>
                </a:solidFill>
                <a:latin typeface="Calibri"/>
              </a:rPr>
              <a:t>Drill into one 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520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Pick the top alert. Read the motivo. Click Trace features. See the raw numbers that fired it. No black box.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572000"/>
            <a:ext cx="777240" cy="77724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18304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720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4C5C"/>
                </a:solidFill>
                <a:latin typeface="Calibri"/>
              </a:rPr>
              <a:t>Learning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0749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Switch to the Learning loop tab. 120 mocked outcomes show the system self-tuning: capture_window converts at 33%, silent at 11%.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Layered. CRM-agnostic. Daily idempotent.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554480"/>
            <a:ext cx="7589520" cy="86868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06040" y="166420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Feedback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202996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alert_outcomes.csv → metrics → rule tuning</a:t>
            </a:r>
          </a:p>
        </p:txBody>
      </p:sp>
      <p:sp>
        <p:nvSpPr>
          <p:cNvPr id="7" name="Up Arrow 6"/>
          <p:cNvSpPr/>
          <p:nvPr/>
        </p:nvSpPr>
        <p:spPr>
          <a:xfrm>
            <a:off x="5897880" y="2468880"/>
            <a:ext cx="365760" cy="118872"/>
          </a:xfrm>
          <a:prstGeom prst="up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86000" y="2606040"/>
            <a:ext cx="7589520" cy="868680"/>
          </a:xfrm>
          <a:prstGeom prst="round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271576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Activation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08152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build_alerts → ranked, traceable, routed</a:t>
            </a:r>
          </a:p>
        </p:txBody>
      </p:sp>
      <p:sp>
        <p:nvSpPr>
          <p:cNvPr id="11" name="Up Arrow 10"/>
          <p:cNvSpPr/>
          <p:nvPr/>
        </p:nvSpPr>
        <p:spPr>
          <a:xfrm>
            <a:off x="5897880" y="3520440"/>
            <a:ext cx="365760" cy="118872"/>
          </a:xfrm>
          <a:prstGeom prst="up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86000" y="3657600"/>
            <a:ext cx="7589520" cy="868680"/>
          </a:xfrm>
          <a:prstGeom prst="roundRect">
            <a:avLst/>
          </a:prstGeom>
          <a:solidFill>
            <a:srgbClr val="35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376732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Analytical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3308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commodity_segments / technical_patterns</a:t>
            </a:r>
          </a:p>
        </p:txBody>
      </p:sp>
      <p:sp>
        <p:nvSpPr>
          <p:cNvPr id="15" name="Up Arrow 14"/>
          <p:cNvSpPr/>
          <p:nvPr/>
        </p:nvSpPr>
        <p:spPr>
          <a:xfrm>
            <a:off x="5897880" y="4572000"/>
            <a:ext cx="365760" cy="118872"/>
          </a:xfrm>
          <a:prstGeom prst="up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4709160"/>
            <a:ext cx="7589520" cy="868680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481888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Data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18464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cleaned CSVs (Ventas, Clientes, Productos…)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554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Standalone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Python module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103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Streamlit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7432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CRM-ready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063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HubSpot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JSON exporter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3931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Idempotent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2519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onsolas"/>
              </a:rPr>
              <a:t>generate_alerts(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4805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onsolas"/>
              </a:rPr>
              <a:t>  date)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Brief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6B6B"/>
                </a:solidFill>
                <a:latin typeface="Calibri"/>
              </a:rPr>
              <a:t>8 of 8 deliverables shipped.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05740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2996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07568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Purchase-need prediction for commodities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8308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29400" y="205740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2996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07568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Early churn-risk for technical products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15468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1272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17296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Capture-window identification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88036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315468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1272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17296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Interpretable, actionable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77639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" y="4251959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224527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270247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Operational prioritisation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3977639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29400" y="4251959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224527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270247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Daily-operation proposal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07492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40" y="534924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675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Standalone-to-CRM evolution 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507492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29400" y="534924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3218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3675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Learning capability (feedback loop)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What's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7830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Wire alerts into Inibsa's CRM via the existing HubSpot exporter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700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Replace mocked outcomes with real recordings from sales 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118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Threshold auto-tuning when ≥500 real outcomes accumulate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988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5262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Run a 30-day pilot with control group to measure real lift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The architecture supports all of this without rewrites.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0448" y="1828800"/>
            <a:ext cx="457200" cy="45720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560320"/>
            <a:ext cx="1219169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E36C3D"/>
                </a:solidFill>
                <a:latin typeface="Calibri"/>
              </a:rPr>
              <a:t>Smart Demand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CADCFC"/>
                </a:solidFill>
                <a:latin typeface="Consolas"/>
              </a:rPr>
              <a:t>github.com/BielMe/hackaton1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