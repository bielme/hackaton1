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57200"/>
            <a:ext cx="1371600" cy="137160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69880" y="685800"/>
            <a:ext cx="914400" cy="914400"/>
          </a:xfrm>
          <a:prstGeom prst="ellipse">
            <a:avLst/>
          </a:prstGeom>
          <a:solidFill>
            <a:srgbClr val="0F4C5C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Smart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Daily commercial alerts for 6,000 dental clinics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Inibsa  ·  Interhack BCN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Every morning, a 6,000-clinic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“Which of our clinics should we contact today,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E36C3D"/>
                </a:solidFill>
                <a:latin typeface="Calibri"/>
              </a:rPr>
              <a:t>and why?”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Today, this is mostly intuition + scattered KPIs.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dental clinics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of sales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572000"/>
            <a:ext cx="3383280" cy="155448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7548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0F4C5C"/>
                </a:solidFill>
                <a:latin typeface="Calibri"/>
              </a:rPr>
              <a:t>25 SKUs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across 4 sub-families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Two products. Two brains.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The brief insists on it — and the data confirms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394960" cy="466344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COMMODITIES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F4C5C"/>
                </a:solidFill>
                <a:latin typeface="Calibri"/>
              </a:rPr>
              <a:t>Anestesia · Bioseguridad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Recurring purchases, predictable consumption.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Compare against the clinic's purchase potential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Loyal: capturing ≥30% of potential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Promiscuous: split with competitors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Marginal: residual buyers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1A1A1A"/>
                </a:solidFill>
                <a:latin typeface="Calibri"/>
              </a:rPr>
              <a:t>Churn-risk: was active, now silent or dropping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394960" cy="466344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874519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PRODUCTOS TÉCNICOS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4028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Biomateriales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Sporadic purchases, case-driven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520440"/>
            <a:ext cx="5029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Compare each clinic to its own historical pattern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Year-over-year baseline (neutralises seasonality)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Detect drops in frequency, volume, or absence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Distinguish normal pause vs. real deterioration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E36C3D"/>
                </a:solidFill>
                <a:latin typeface="Calibri"/>
              </a:rPr>
              <a:t>•  </a:t>
            </a:r>
            <a:r>
              <a:rPr sz="1400">
                <a:solidFill>
                  <a:srgbClr val="FFFFFF"/>
                </a:solidFill>
                <a:latin typeface="Calibri"/>
              </a:rPr>
              <a:t>Holiday-aware (August, Christmas)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From data to commercial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Purchase
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5 years × daily granularity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3751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615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615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Signal
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903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Two parallel logics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2930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7940" y="2377440"/>
            <a:ext cx="2297430" cy="182880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F4C5C"/>
                </a:solidFill>
                <a:latin typeface="Calibri"/>
              </a:rPr>
              <a:t>Daily
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Score, reason, channel, traceability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21090" y="3154680"/>
            <a:ext cx="365760" cy="274320"/>
          </a:xfrm>
          <a:prstGeom prst="right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69730" y="2377440"/>
            <a:ext cx="2297430" cy="182880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9730" y="2788920"/>
            <a:ext cx="229743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Commercial
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52610" y="3703320"/>
            <a:ext cx="193167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CADCFC"/>
                </a:solidFill>
                <a:latin typeface="Calibri"/>
              </a:rPr>
              <a:t>Delegado · Televenta ·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6B6B6B"/>
                </a:solidFill>
                <a:latin typeface="Calibri"/>
              </a:rPr>
              <a:t>One function. One date input. End-to-end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What's in an alert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937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alert_id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6916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"ALT-20251229-000001"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id_cliente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574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"40439"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provincia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2316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"Zaragoza"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familia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8892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"Categoria C2"  (Bioseguridad)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tipo_alerta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1546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"capture_window"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204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prioridad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5204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"High"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862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862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57,875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expected_impact_eur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25196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82,679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1772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canal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61772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"delegado"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contact_window_days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98348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34924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motivo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34924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"Cliente promiscuo: 6% del potencial..."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71500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onsolas"/>
              </a:rPr>
              <a:t>trace_features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5715000"/>
            <a:ext cx="3931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{ share: 0.06, potencial: 87,672, ...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16916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Decision unit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01168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client × familia × motivo × momento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7432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Prioritisation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0632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score = impact × urgency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947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Channel routing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148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delegado / televenta / marketing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8463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6C3D"/>
                </a:solidFill>
                <a:latin typeface="Calibri"/>
              </a:rPr>
              <a:t>Traceability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16636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Every metric that fired the alert is in the trace. Drill into any alert and see the raw numbers. No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48640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Generated for 2025-12-29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4,394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alerts generated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1,093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High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774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36C3D"/>
                </a:solidFill>
                <a:latin typeface="Calibri"/>
              </a:rPr>
              <a:t>€11.8M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0233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expected commercial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By alert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silent 1,494   ·   capture_window 1,030   ·   lost 991   ·   churn_risk 492   ·   opportunity_spike 387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Live demo · 3 minutes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934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Daily cadence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Drag the date picker back to 2024-06-30. The alert table changes. Same code, any historical date — the system is idempotent.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1752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6382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175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Drill into one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204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Pick the top alert. Read the motivo. Click Trace features. See the raw numbers that fired it. No black box.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572000"/>
            <a:ext cx="777240" cy="77724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18304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4C5C"/>
                </a:solidFill>
                <a:latin typeface="Calibri"/>
              </a:rPr>
              <a:t>Learning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749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Switch to the Learning loop tab. 120 mocked outcomes show the system self-tuning: capture_window converts at 33%, silent at 11%.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Layered. CRM-agnostic. Daily idempotent.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554480"/>
            <a:ext cx="7589520" cy="86868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06040" y="166420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Feedback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02996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alert_outcomes.csv → metrics → rule tuning</a:t>
            </a:r>
          </a:p>
        </p:txBody>
      </p:sp>
      <p:sp>
        <p:nvSpPr>
          <p:cNvPr id="7" name="Up Arrow 6"/>
          <p:cNvSpPr/>
          <p:nvPr/>
        </p:nvSpPr>
        <p:spPr>
          <a:xfrm>
            <a:off x="5897880" y="246888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606040"/>
            <a:ext cx="7589520" cy="868680"/>
          </a:xfrm>
          <a:prstGeom prst="round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71576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Activation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308152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build_alerts → ranked, traceable, routed</a:t>
            </a:r>
          </a:p>
        </p:txBody>
      </p:sp>
      <p:sp>
        <p:nvSpPr>
          <p:cNvPr id="11" name="Up Arrow 10"/>
          <p:cNvSpPr/>
          <p:nvPr/>
        </p:nvSpPr>
        <p:spPr>
          <a:xfrm>
            <a:off x="5897880" y="352044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3657600"/>
            <a:ext cx="7589520" cy="868680"/>
          </a:xfrm>
          <a:prstGeom prst="roundRect">
            <a:avLst/>
          </a:prstGeom>
          <a:solidFill>
            <a:srgbClr val="35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376732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Analytical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413308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commodity_segments / technical_patterns</a:t>
            </a:r>
          </a:p>
        </p:txBody>
      </p:sp>
      <p:sp>
        <p:nvSpPr>
          <p:cNvPr id="15" name="Up Arrow 14"/>
          <p:cNvSpPr/>
          <p:nvPr/>
        </p:nvSpPr>
        <p:spPr>
          <a:xfrm>
            <a:off x="5897880" y="4572000"/>
            <a:ext cx="365760" cy="118872"/>
          </a:xfrm>
          <a:prstGeom prst="upArrow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6000" y="4709160"/>
            <a:ext cx="7589520" cy="86868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4818888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5184648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cleaned CSVs (Ventas, Clientes, Productos…)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5544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Standalone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Python module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1031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Streamlit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7432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CRM-ready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0632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HubSpot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291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JSON exporter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9319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6C3D"/>
                </a:solidFill>
                <a:latin typeface="Calibri"/>
              </a:rPr>
              <a:t>Idempotent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251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generate_alerts(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805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onsolas"/>
              </a:rPr>
              <a:t>  date)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Brief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8 of 8 deliverables shipped.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05740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7568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Purchase-need prediction for commodities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205740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0299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07568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Early churn-risk for technical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15468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1272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7296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Capture-window identification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8036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315468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272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17296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Interpretable, actionable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77639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4251959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224527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270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Operational prioritisation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977639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29400" y="4251959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24527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270247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Daily-operation proposal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7492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534924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3218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3675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Standalone-to-CRM evolution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074920"/>
            <a:ext cx="5440680" cy="960120"/>
          </a:xfrm>
          <a:prstGeom prst="roundRect">
            <a:avLst/>
          </a:prstGeom>
          <a:solidFill>
            <a:srgbClr val="F2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29400" y="5349240"/>
            <a:ext cx="411480" cy="41148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3218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367528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Learning capability (feedback loop)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76072"/>
            <a:ext cx="164592" cy="164592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783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Wire alerts into Inibsa's CRM via the existing HubSpot exporter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700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Replace mocked outcomes with real recordings from sales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Threshold auto-tuning when ≥500 real outcomes accumulate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1280160" cy="502920"/>
          </a:xfrm>
          <a:prstGeom prst="roundRect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9884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262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Run a 30-day pilot with control group to measure real 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The architecture supports all of this without rewrites.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70448" y="1828800"/>
            <a:ext cx="457200" cy="457200"/>
          </a:xfrm>
          <a:prstGeom prst="ellipse">
            <a:avLst/>
          </a:prstGeom>
          <a:solidFill>
            <a:srgbClr val="E36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336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E36C3D"/>
                </a:solidFill>
                <a:latin typeface="Calibri"/>
              </a:rPr>
              <a:t>Smart Demand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CADCFC"/>
                </a:solidFill>
                <a:latin typeface="Consolas"/>
              </a:rPr>
              <a:t>github.com/BielMe/hackaton1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