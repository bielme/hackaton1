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>
                <a:solidFill>
                  <a:srgbClr val="1B2A4A"/>
                </a:solidFill>
                <a:latin typeface="Calibri"/>
              </a:rPr>
              <a:t>Heuristic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>
                <a:solidFill>
                  <a:srgbClr val="2E6FA8"/>
                </a:solidFill>
                <a:latin typeface="Calibri"/>
              </a:rPr>
              <a:t>Cases We Considered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97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Calibri"/>
              </a:rPr>
              <a:t>How and why each rule in the system was chosen — no black box, no overengineering.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Mythos Group  ·  Inibsa Alert Marker  ·  InterHack 2026</a:t>
            </a:r>
          </a:p>
        </p:txBody>
      </p:sp>
      <p:sp>
        <p:nvSpPr>
          <p:cNvPr id="6" name="Oval 5"/>
          <p:cNvSpPr/>
          <p:nvPr/>
        </p:nvSpPr>
        <p:spPr>
          <a:xfrm>
            <a:off x="10332720" y="2286000"/>
            <a:ext cx="914400" cy="91440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The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Calibri"/>
              </a:rPr>
              <a:t>The brief is explicit: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Calibri"/>
              </a:rPr>
              <a:t>“The key is not technical sophistication, but analytical and commercial utility.”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474720"/>
            <a:ext cx="3657600" cy="23774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7490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6FA8"/>
                </a:solidFill>
                <a:latin typeface="Calibri"/>
              </a:rPr>
              <a:t>Explainable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Every alert is traceable to its inputs. Sales reps and judges can audit any 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474720"/>
            <a:ext cx="3657600" cy="23774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7490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6FA8"/>
                </a:solidFill>
                <a:latin typeface="Calibri"/>
              </a:rPr>
              <a:t>Tunable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3891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Thresholds are heuristics by design — the learning loop adjusts them when real outcomes accumulate.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474720"/>
            <a:ext cx="3657600" cy="237744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37490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6FA8"/>
                </a:solidFill>
                <a:latin typeface="Calibri"/>
              </a:rPr>
              <a:t>Anchored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4389120"/>
            <a:ext cx="3291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Each rule is grounded in either an observation in the data or an explicit requirement of the brief.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Two-track logic — commodities vs. technical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3657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WHAT WE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Two product blocks behave very differently in the data:
• Commodities (anaesthesia, biosecurity) — recurring, predictable. Most clinics buy every month.
• Technical products (biomaterials) — sporadic. A clinic may buy 4 times a year or once every 18 months.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3154680"/>
            <a:ext cx="457200" cy="365760"/>
          </a:xfrm>
          <a:prstGeom prst="right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554480"/>
            <a:ext cx="4846320" cy="3657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91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0312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Two parallel detection logics:
• Commodities → share-of-potential rule against a declared annual potential.
• Technical → individual-baseline rule comparing each clinic to its OWN past pattern.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Applying one rule to both would either flag normal sporadic buyers as churning, or miss real loss in commodities. The brief insists on this distinction; the data confirms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The August drop — seasonality is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3657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WHAT WE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Empirical seasonal factors per month per family:
• August: 0.25–0.38× of the yearly average
• November: 1.10–1.23× (peak)
• Christmas week: also depressed
Without seasonality awareness, ~1,500 false-positive churn alerts would fire every August.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3154680"/>
            <a:ext cx="457200" cy="365760"/>
          </a:xfrm>
          <a:prstGeom prst="right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554480"/>
            <a:ext cx="4846320" cy="3657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91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0312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Year-over-year baseline for technical products — compare to the SAME calendar window last year, not just the trailing 90 days.
Plus an is_holiday_period() flag — drop signals are suppressed during August / Christmas / Reyes unless YoY also shows ≥50% decline.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Comparing August to the previous spring is comparing apples to oranges. August is below-average for everyone — only same-vs-same comparisons isolate real churn.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“Lost client” is more than 270 days silent — but not that simple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3657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WHAT WE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Naive rule: client silent for &gt;270 days = lost.
Problem: lots of clients only ever made 1 or 2 purchases years ago. They were never really cyclic.
Calling them “lost” triggers expensive recovery campaigns for clients who never engaged.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3154680"/>
            <a:ext cx="457200" cy="365760"/>
          </a:xfrm>
          <a:prstGeom prst="right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554480"/>
            <a:ext cx="4846320" cy="3657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91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0312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Cyclic-client filter on `lost` alerts. Three conditions, all required:
• ≥3 distinct purchase days lifetime
• ≥€200 lifetime volume
• Cycle ≤365 days (or annualised volume ≥€500)
Below those, no `lost` alert fires.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A meaningful “lost” needs a meaningful “was active” first. The filter cuts the noise without losing real recovery candidates.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After a campaign, a quiet inbox doesn't mean churn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3657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WHAT WE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When a clinic buys heavily during a promotional campaign, their warehouse is full.
They will not buy again for several months — by design. That's the whole point of stocking up.
Without context, the system would flag them as “gone silent” the next month.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3154680"/>
            <a:ext cx="457200" cy="365760"/>
          </a:xfrm>
          <a:prstGeom prst="right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554480"/>
            <a:ext cx="4846320" cy="3657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91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0312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Post-campaign grace period.
If a client bought ≥2× their normal monthly average during a campaign window, suppress silent / churn-risk alerts for a period proportional to volume (volume / monthly_avg = grace months).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Otherwise the system pesters customers who already over-bought. Grace periods turn data we already have (Campañas table) into a real-world signal.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Don't fire the same alert every single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3657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WHAT WE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An alert is a state, not an event. The same client × family × type would fire the same alert every morning, indefinitely.
Sales team would tune it out. Or worse, contact the same client repeatedly.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3154680"/>
            <a:ext cx="457200" cy="365760"/>
          </a:xfrm>
          <a:prstGeom prst="right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554480"/>
            <a:ext cx="4846320" cy="3657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91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0312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Outcome-driven snooze.
When a sales rep records a terminal outcome (won, lost, or false_positive), that combination of `(client × family × tipo)` is suppressed for 30 days.
Pending or no-contact outcomes do NOT snooze — those clients keep firing.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The system should respect actions taken. Snoozing closes the loop between the activation layer and the feedback layer — the sales rep's work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Contact window adapts to each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3657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WHAT WE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A fixed 7/30/90-day contact window is too rigid.
A clinic with a 10-day cycle needs urgency now. A clinic with a 120-day cycle can wait.
The right window depends on how soon the client is expected to buy.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3154680"/>
            <a:ext cx="457200" cy="365760"/>
          </a:xfrm>
          <a:prstGeom prst="right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554480"/>
            <a:ext cx="4846320" cy="3657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91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0312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Dynamic contact window per alert.
If overdue → window collapses to default / 4 (act fast).
If on-cycle → window = days until expected purchase.
If no cycle data → fallback to default.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An adaptive window respects the client's actual rhythm. Sales team prioritises by urgency that's real to the client, not arbitrary.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Don't claim €82K from a clinic that buys €5K/year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3657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WHAT WE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Naive impact for a promiscuous client: full gap to declared potential.
Example: declared potential €88K, current €5K → claim €82K of capturable demand.
Reality: nobody captures 17× their current volume in one go. The number is indefensible.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3154680"/>
            <a:ext cx="457200" cy="365760"/>
          </a:xfrm>
          <a:prstGeom prst="right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554480"/>
            <a:ext cx="4846320" cy="3657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91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0312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Realistic capture impact = current volume × growth multiplier:
• share &lt;30% → impact = current × 0.5 (50% growth)
• share ≥30% → impact = current × 0.3 (30% growth)
Score remains driven by impact, just with believable numbers.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Defensible numbers survive scrutiny. The brief asks for actionable alerts — and a sales rep can actually deliver 30-50% growth from a known active customer.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All four prioritisation signals from the brief in the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3657600"/>
          </a:xfrm>
          <a:prstGeom prst="round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6633"/>
                </a:solidFill>
                <a:latin typeface="Calibri"/>
              </a:rPr>
              <a:t>WHAT WE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The brief lists four signals: economic impact, time urgency, client potential value, and conversion probability.
Most teams score on `impact × urgency` only. Conversion probability silently disappears.
The result: high-impact-but-unrecoverable alerts dominate, even though sales can't act on them.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172200" y="3154680"/>
            <a:ext cx="457200" cy="365760"/>
          </a:xfrm>
          <a:prstGeom prst="rightArrow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1554480"/>
            <a:ext cx="4846320" cy="36576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169164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9D4E3"/>
                </a:solidFill>
                <a:latin typeface="Calibri"/>
              </a:rPr>
              <a:t>WHAT WE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10312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Conversion probability per segment, used in scoring:
  score = impact × urgency × conversion_probability
Promiscuous: share / 0.30 (closer to loyal = more recoverable).
Silent: decays with recency. Lost: 0.10. Spike: 0.50.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6FA8"/>
                </a:solidFill>
                <a:latin typeface="Calibri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B2A4A"/>
                </a:solidFill>
                <a:latin typeface="Calibri"/>
              </a:rPr>
              <a:t>The score now rewards recoverable opportunities, not just big numbers. All four brief signals influence the ranking — none silently dropped.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640080" cy="640080"/>
          </a:xfrm>
          <a:prstGeom prst="ellipse">
            <a:avLst/>
          </a:prstGeom>
          <a:solidFill>
            <a:srgbClr val="2E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B2A4A"/>
                </a:solidFill>
                <a:latin typeface="Calibri"/>
              </a:rPr>
              <a:t>Every rule has a reason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6B6B"/>
                </a:solidFill>
                <a:latin typeface="Calibri"/>
              </a:rPr>
              <a:t>Eight design cases. Each one anchored to either an observation in the data or a requirement in the brief.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01  Two-track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2860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→  Brief requirement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02  Seasonality / August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788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→  Empirical (factor 0.25–0.38)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03  Lost-client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→  Data quality / signal-to-noise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947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04  Post-campaign grace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379476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→  Brief interpretive caveat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976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05  Outcome-driven snooze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42976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→  Brief operational requirement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06  Dynamic contact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800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→  Per-client rhythm in the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07  Realistic capture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53035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→  Defensibility / business sense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Calibri"/>
              </a:rPr>
              <a:t>08  Conversion probability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806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Calibri"/>
              </a:rPr>
              <a:t>→  Brief: 4th prioritisation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E6FA8"/>
                </a:solidFill>
                <a:latin typeface="Calibri"/>
              </a:rPr>
              <a:t>No black box. Every threshold and multiplier is documented in the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