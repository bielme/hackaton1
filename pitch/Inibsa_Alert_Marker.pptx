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0" y="1828800"/>
            <a:ext cx="365760" cy="23774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0" y="1828800"/>
            <a:ext cx="365760" cy="23774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1828800"/>
            <a:ext cx="868680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337560" y="1828800"/>
            <a:ext cx="868680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331720" y="3611880"/>
            <a:ext cx="274320" cy="411480"/>
          </a:xfrm>
          <a:prstGeom prst="rect">
            <a:avLst/>
          </a:prstGeom>
          <a:solidFill>
            <a:srgbClr val="C9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51760" y="3337560"/>
            <a:ext cx="274320" cy="685800"/>
          </a:xfrm>
          <a:prstGeom prst="rect">
            <a:avLst/>
          </a:prstGeom>
          <a:solidFill>
            <a:srgbClr val="5A7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71800" y="3063240"/>
            <a:ext cx="274320" cy="960120"/>
          </a:xfrm>
          <a:prstGeom prst="rect">
            <a:avLst/>
          </a:prstGeom>
          <a:solidFill>
            <a:srgbClr val="5A7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2788920"/>
            <a:ext cx="274320" cy="12344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57200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0">
                <a:solidFill>
                  <a:srgbClr val="1B2A4A"/>
                </a:solidFill>
                <a:latin typeface="Calibri"/>
              </a:rPr>
              <a:t>MYTHOS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77440" y="5166360"/>
            <a:ext cx="1280160" cy="36576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0" y="1554480"/>
            <a:ext cx="18288" cy="3657600"/>
          </a:xfrm>
          <a:prstGeom prst="rect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2377440"/>
            <a:ext cx="5852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1A1A1A"/>
                </a:solidFill>
                <a:latin typeface="Calibri"/>
              </a:rPr>
              <a:t>Inibsa Alert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108960"/>
            <a:ext cx="5852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1A1A1A"/>
                </a:solidFill>
                <a:latin typeface="Calibri"/>
              </a:rPr>
              <a:t>Marker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4114800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Mythos Group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4526280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InterHack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Calibri"/>
              </a:rPr>
              <a:t>Every morning, a 6,000-clinic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B6B6B"/>
                </a:solidFill>
                <a:latin typeface="Calibri"/>
              </a:rPr>
              <a:t>Which clinics do we contact today, and why? We turn 5 years of sales history into a daily ranked call list.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5486400" cy="4297680"/>
          </a:xfrm>
          <a:prstGeom prst="round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6FA8"/>
                </a:solidFill>
                <a:latin typeface="Calibri"/>
              </a:rPr>
              <a:t>COMMODITIES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B2A4A"/>
                </a:solidFill>
                <a:latin typeface="Calibri"/>
              </a:rPr>
              <a:t>Anaesthesia · Biosecurity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Recurring purchases. Predictable consumption.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5029200" cy="2468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E6FA8"/>
                </a:solidFill>
                <a:latin typeface="Calibri"/>
              </a:rPr>
              <a:t>•  </a:t>
            </a:r>
            <a:r>
              <a:rPr sz="1300">
                <a:solidFill>
                  <a:srgbClr val="1A1A1A"/>
                </a:solidFill>
                <a:latin typeface="Calibri"/>
              </a:rPr>
              <a:t>Compare each clinic to its purchase potential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2E6FA8"/>
                </a:solidFill>
                <a:latin typeface="Calibri"/>
              </a:rPr>
              <a:t>•  </a:t>
            </a:r>
            <a:r>
              <a:rPr sz="1300">
                <a:solidFill>
                  <a:srgbClr val="1A1A1A"/>
                </a:solidFill>
                <a:latin typeface="Calibri"/>
              </a:rPr>
              <a:t>Loyal · Promiscuous · Marginal · Lost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2E6FA8"/>
                </a:solidFill>
                <a:latin typeface="Calibri"/>
              </a:rPr>
              <a:t>•  </a:t>
            </a:r>
            <a:r>
              <a:rPr sz="1300">
                <a:solidFill>
                  <a:srgbClr val="1A1A1A"/>
                </a:solidFill>
                <a:latin typeface="Calibri"/>
              </a:rPr>
              <a:t>Realistic capture impact (30-50% growth)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486400" cy="42976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0116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9D4E3"/>
                </a:solidFill>
                <a:latin typeface="Calibri"/>
              </a:rPr>
              <a:t>TECHNICAL PRODUCTS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33172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Biomaterials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926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Sporadic purchases. Case-driven demand.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383280"/>
            <a:ext cx="5029200" cy="2468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C9D4E3"/>
                </a:solidFill>
                <a:latin typeface="Calibri"/>
              </a:rPr>
              <a:t>•  </a:t>
            </a:r>
            <a:r>
              <a:rPr sz="1300">
                <a:solidFill>
                  <a:srgbClr val="FFFFFF"/>
                </a:solidFill>
                <a:latin typeface="Calibri"/>
              </a:rPr>
              <a:t>Compare each clinic to its OWN history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C9D4E3"/>
                </a:solidFill>
                <a:latin typeface="Calibri"/>
              </a:rPr>
              <a:t>•  </a:t>
            </a:r>
            <a:r>
              <a:rPr sz="1300">
                <a:solidFill>
                  <a:srgbClr val="FFFFFF"/>
                </a:solidFill>
                <a:latin typeface="Calibri"/>
              </a:rPr>
              <a:t>Year-over-year baseline (neutralises August)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C9D4E3"/>
                </a:solidFill>
                <a:latin typeface="Calibri"/>
              </a:rPr>
              <a:t>•  </a:t>
            </a:r>
            <a:r>
              <a:rPr sz="1300">
                <a:solidFill>
                  <a:srgbClr val="FFFFFF"/>
                </a:solidFill>
                <a:latin typeface="Calibri"/>
              </a:rPr>
              <a:t>Frequency drop · Volume drop · Absence · Anomaly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B2A4A"/>
                </a:solidFill>
                <a:latin typeface="Calibri"/>
              </a:rPr>
              <a:t>Output: ranked daily alerts with reason, urgency, channel, and full traceability.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Calibri"/>
              </a:rPr>
              <a:t>Heuristic design — 8 cases, no black 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Calibri"/>
              </a:rPr>
              <a:t>Every rule is anchored to either an observation in the data or a requirement in the brief.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2603754" cy="1920240"/>
          </a:xfrm>
          <a:prstGeom prst="round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911096"/>
            <a:ext cx="22745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01  Two-track logic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286000"/>
            <a:ext cx="227457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Commodities (predictable) and technical (sporadic) get separate rules.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337560"/>
            <a:ext cx="22745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E6FA8"/>
                </a:solidFill>
                <a:latin typeface="Calibri"/>
              </a:rPr>
              <a:t>→  Brief requirement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8426" y="1783080"/>
            <a:ext cx="2603754" cy="1920240"/>
          </a:xfrm>
          <a:prstGeom prst="round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73018" y="1911096"/>
            <a:ext cx="22745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02  August / seasonality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3018" y="2286000"/>
            <a:ext cx="227457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Year-over-year baseline + holiday flag — neutralises August (0.25× yearly avg).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3018" y="3337560"/>
            <a:ext cx="22745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E6FA8"/>
                </a:solidFill>
                <a:latin typeface="Calibri"/>
              </a:rPr>
              <a:t>→  Empirical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6772" y="1783080"/>
            <a:ext cx="2603754" cy="1920240"/>
          </a:xfrm>
          <a:prstGeom prst="round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41364" y="1911096"/>
            <a:ext cx="22745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03  Lost-client filter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1364" y="2286000"/>
            <a:ext cx="227457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Only fire `lost` for cyclic clients (≥3 buys, ≥€200, cycle ≤365d).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1364" y="3337560"/>
            <a:ext cx="22745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E6FA8"/>
                </a:solidFill>
                <a:latin typeface="Calibri"/>
              </a:rPr>
              <a:t>→  Signal-to-noise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45118" y="1783080"/>
            <a:ext cx="2603754" cy="1920240"/>
          </a:xfrm>
          <a:prstGeom prst="round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09710" y="1911096"/>
            <a:ext cx="22745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04  Post-campaign grace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9710" y="2286000"/>
            <a:ext cx="227457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Heavy buyers in promo windows are silenced until expected restock date.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9710" y="3337560"/>
            <a:ext cx="22745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E6FA8"/>
                </a:solidFill>
                <a:latin typeface="Calibri"/>
              </a:rPr>
              <a:t>→  Brief caveat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886200"/>
            <a:ext cx="2603754" cy="1920240"/>
          </a:xfrm>
          <a:prstGeom prst="round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4014216"/>
            <a:ext cx="22745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05  Outcome-driven snooze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389120"/>
            <a:ext cx="227457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After won/lost/false_positive, that (cliente×fam×tipo) is muted 30 days.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5440680"/>
            <a:ext cx="22745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E6FA8"/>
                </a:solidFill>
                <a:latin typeface="Calibri"/>
              </a:rPr>
              <a:t>→  Brief operational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08426" y="3886200"/>
            <a:ext cx="2603754" cy="1920240"/>
          </a:xfrm>
          <a:prstGeom prst="round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73018" y="4014216"/>
            <a:ext cx="22745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06  Dynamic contact window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73018" y="4389120"/>
            <a:ext cx="227457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Window adapts to each client's avg cycle — overdue tightens, on-cycle exact.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73018" y="5440680"/>
            <a:ext cx="22745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E6FA8"/>
                </a:solidFill>
                <a:latin typeface="Calibri"/>
              </a:rPr>
              <a:t>→  Per-client rhythm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6772" y="3886200"/>
            <a:ext cx="2603754" cy="1920240"/>
          </a:xfrm>
          <a:prstGeom prst="round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1364" y="4014216"/>
            <a:ext cx="22745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07  Realistic capture impact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1364" y="4389120"/>
            <a:ext cx="227457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Promiscuous impact = current × 0.3–0.5 — defensible, not theoretical.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41364" y="5440680"/>
            <a:ext cx="22745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E6FA8"/>
                </a:solidFill>
                <a:latin typeface="Calibri"/>
              </a:rPr>
              <a:t>→  Defensibility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45118" y="3886200"/>
            <a:ext cx="2603754" cy="1920240"/>
          </a:xfrm>
          <a:prstGeom prst="round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09710" y="4014216"/>
            <a:ext cx="22745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08  Conversion probability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09710" y="4389120"/>
            <a:ext cx="227457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score = impact × urgency × conv_prob (4th brief signal).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09710" y="5440680"/>
            <a:ext cx="22745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E6FA8"/>
                </a:solidFill>
                <a:latin typeface="Calibri"/>
              </a:rPr>
              <a:t>→  Brief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B2A4A"/>
                </a:solidFill>
                <a:latin typeface="Calibri"/>
              </a:rPr>
              <a:t>All four prioritisation signals from the brief are in the score: impact × urgency × client value × conversion probability.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3550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6B6B6B"/>
                </a:solidFill>
                <a:latin typeface="Calibri"/>
              </a:rPr>
              <a:t>No black box. Every threshold and multiplier is documented in the code.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Calibri"/>
              </a:rPr>
              <a:t>By the numbers · 8 of 8 deliverables shipped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3657600" cy="1554480"/>
          </a:xfrm>
          <a:prstGeom prst="round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>
                <a:solidFill>
                  <a:srgbClr val="1B2A4A"/>
                </a:solidFill>
                <a:latin typeface="Calibri"/>
              </a:rPr>
              <a:t>4,271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B6B6B"/>
                </a:solidFill>
                <a:latin typeface="Calibri"/>
              </a:rPr>
              <a:t>alerts generated today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463040"/>
            <a:ext cx="3657600" cy="1554480"/>
          </a:xfrm>
          <a:prstGeom prst="round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169164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>
                <a:solidFill>
                  <a:srgbClr val="1B2A4A"/>
                </a:solidFill>
                <a:latin typeface="Calibri"/>
              </a:rPr>
              <a:t>1,300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5603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B6B6B"/>
                </a:solidFill>
                <a:latin typeface="Calibri"/>
              </a:rPr>
              <a:t>High priority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1463040"/>
            <a:ext cx="3657600" cy="1554480"/>
          </a:xfrm>
          <a:prstGeom prst="round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69164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>
                <a:solidFill>
                  <a:srgbClr val="1B2A4A"/>
                </a:solidFill>
                <a:latin typeface="Calibri"/>
              </a:rPr>
              <a:t>€11.6M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5603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B6B6B"/>
                </a:solidFill>
                <a:latin typeface="Calibri"/>
              </a:rPr>
              <a:t>expected commercial impact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291840"/>
            <a:ext cx="292608" cy="292608"/>
          </a:xfrm>
          <a:prstGeom prst="ellipse">
            <a:avLst/>
          </a:prstGeom>
          <a:solidFill>
            <a:srgbClr val="2E6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9184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32841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Purchase prediction (commodities)</a:t>
            </a:r>
          </a:p>
        </p:txBody>
      </p:sp>
      <p:sp>
        <p:nvSpPr>
          <p:cNvPr id="15" name="Oval 14"/>
          <p:cNvSpPr/>
          <p:nvPr/>
        </p:nvSpPr>
        <p:spPr>
          <a:xfrm>
            <a:off x="6263640" y="3291840"/>
            <a:ext cx="292608" cy="292608"/>
          </a:xfrm>
          <a:prstGeom prst="ellipse">
            <a:avLst/>
          </a:prstGeom>
          <a:solidFill>
            <a:srgbClr val="2E6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329184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332841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Early churn-risk (technical)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3886200"/>
            <a:ext cx="292608" cy="292608"/>
          </a:xfrm>
          <a:prstGeom prst="ellipse">
            <a:avLst/>
          </a:prstGeom>
          <a:solidFill>
            <a:srgbClr val="2E6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8620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92277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Capture-window identification</a:t>
            </a:r>
          </a:p>
        </p:txBody>
      </p:sp>
      <p:sp>
        <p:nvSpPr>
          <p:cNvPr id="21" name="Oval 20"/>
          <p:cNvSpPr/>
          <p:nvPr/>
        </p:nvSpPr>
        <p:spPr>
          <a:xfrm>
            <a:off x="6263640" y="3886200"/>
            <a:ext cx="292608" cy="292608"/>
          </a:xfrm>
          <a:prstGeom prst="ellipse">
            <a:avLst/>
          </a:prstGeom>
          <a:solidFill>
            <a:srgbClr val="2E6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388620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92277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Interpretable, actionable alerts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4480560"/>
            <a:ext cx="292608" cy="292608"/>
          </a:xfrm>
          <a:prstGeom prst="ellipse">
            <a:avLst/>
          </a:prstGeom>
          <a:solidFill>
            <a:srgbClr val="2E6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48056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517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Operational prioritisation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4480560"/>
            <a:ext cx="292608" cy="292608"/>
          </a:xfrm>
          <a:prstGeom prst="ellipse">
            <a:avLst/>
          </a:prstGeom>
          <a:solidFill>
            <a:srgbClr val="2E6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448056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4517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Daily-operation proposal</a:t>
            </a:r>
          </a:p>
        </p:txBody>
      </p:sp>
      <p:sp>
        <p:nvSpPr>
          <p:cNvPr id="30" name="Oval 29"/>
          <p:cNvSpPr/>
          <p:nvPr/>
        </p:nvSpPr>
        <p:spPr>
          <a:xfrm>
            <a:off x="640080" y="5074920"/>
            <a:ext cx="292608" cy="292608"/>
          </a:xfrm>
          <a:prstGeom prst="ellipse">
            <a:avLst/>
          </a:prstGeom>
          <a:solidFill>
            <a:srgbClr val="2E6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07492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511149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Standalone-to-CRM evolution path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5074920"/>
            <a:ext cx="292608" cy="292608"/>
          </a:xfrm>
          <a:prstGeom prst="ellipse">
            <a:avLst/>
          </a:prstGeom>
          <a:solidFill>
            <a:srgbClr val="2E6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507492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511149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Learning capability (feedback loop)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0" y="603504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1B2A4A"/>
                </a:solidFill>
                <a:latin typeface="Calibri"/>
              </a:rPr>
              <a:t>Thank you · Questions?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0" y="644652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6B6B"/>
                </a:solidFill>
                <a:latin typeface="Calibri"/>
              </a:rPr>
              <a:t>Mythos Group · github.com/SH-SW/InterHack2026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