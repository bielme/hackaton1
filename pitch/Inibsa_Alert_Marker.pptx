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0" y="1828800"/>
            <a:ext cx="365760" cy="2377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0" y="1828800"/>
            <a:ext cx="365760" cy="2377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1828800"/>
            <a:ext cx="868680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337560" y="1828800"/>
            <a:ext cx="868680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331720" y="3611880"/>
            <a:ext cx="274320" cy="411480"/>
          </a:xfrm>
          <a:prstGeom prst="rect">
            <a:avLst/>
          </a:prstGeom>
          <a:solidFill>
            <a:srgbClr val="C9D4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51760" y="3337560"/>
            <a:ext cx="274320" cy="685800"/>
          </a:xfrm>
          <a:prstGeom prst="rect">
            <a:avLst/>
          </a:prstGeom>
          <a:solidFill>
            <a:srgbClr val="5A7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971800" y="3063240"/>
            <a:ext cx="274320" cy="960120"/>
          </a:xfrm>
          <a:prstGeom prst="rect">
            <a:avLst/>
          </a:prstGeom>
          <a:solidFill>
            <a:srgbClr val="5A7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1840" y="2788920"/>
            <a:ext cx="274320" cy="12344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457200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0">
                <a:solidFill>
                  <a:srgbClr val="1B2A4A"/>
                </a:solidFill>
                <a:latin typeface="Calibri"/>
              </a:rPr>
              <a:t>MYTHOS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40" y="5166360"/>
            <a:ext cx="1280160" cy="36576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0" y="1554480"/>
            <a:ext cx="18288" cy="365760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377440"/>
            <a:ext cx="5852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1A1A1A"/>
                </a:solidFill>
                <a:latin typeface="Calibri"/>
              </a:rPr>
              <a:t>Inibsa Alert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3108960"/>
            <a:ext cx="5852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1A1A1A"/>
                </a:solidFill>
                <a:latin typeface="Calibri"/>
              </a:rPr>
              <a:t>Marker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4114800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Mythos Group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4526280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6B6B6B"/>
                </a:solidFill>
                <a:latin typeface="Calibri"/>
              </a:rPr>
              <a:t>InterHack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2E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Calibri"/>
              </a:rPr>
              <a:t>Our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96012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Calibri"/>
              </a:rPr>
              <a:t>Central idea, why this method, and the advantage over alternatives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11091672" cy="14630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9D4E3"/>
                </a:solidFill>
                <a:latin typeface="Calibri"/>
              </a:rPr>
              <a:t>CENTRAL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Turn 5 years of Inibsa's sales history into a daily ranked call list — every clinic that needs attention today, with a clear reason and a recommended action.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46120"/>
            <a:ext cx="5440680" cy="310896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4290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6FA8"/>
                </a:solidFill>
                <a:latin typeface="Calibri"/>
              </a:rPr>
              <a:t>WHY HEURISTICS, NOT 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40480"/>
            <a:ext cx="5029200" cy="2377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E6FA8"/>
                </a:solidFill>
                <a:latin typeface="Calibri"/>
              </a:rPr>
              <a:t>•  </a:t>
            </a:r>
            <a:r>
              <a:rPr sz="1200">
                <a:solidFill>
                  <a:srgbClr val="1A1A1A"/>
                </a:solidFill>
                <a:latin typeface="Calibri"/>
              </a:rPr>
              <a:t>Brief explicitly says “the key is analytical and commercial utility, not technical sophistication.”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E6FA8"/>
                </a:solidFill>
                <a:latin typeface="Calibri"/>
              </a:rPr>
              <a:t>•  </a:t>
            </a:r>
            <a:r>
              <a:rPr sz="1200">
                <a:solidFill>
                  <a:srgbClr val="1A1A1A"/>
                </a:solidFill>
                <a:latin typeface="Calibri"/>
              </a:rPr>
              <a:t>ML needs labelled outcomes — we don't have them yet, only mocked.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E6FA8"/>
                </a:solidFill>
                <a:latin typeface="Calibri"/>
              </a:rPr>
              <a:t>•  </a:t>
            </a:r>
            <a:r>
              <a:rPr sz="1200">
                <a:solidFill>
                  <a:srgbClr val="1A1A1A"/>
                </a:solidFill>
                <a:latin typeface="Calibri"/>
              </a:rPr>
              <a:t>Rules are tunable later via the feedback loop, when real outcomes accumulate.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3246120"/>
            <a:ext cx="5440680" cy="310896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34290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6FA8"/>
                </a:solidFill>
                <a:latin typeface="Calibri"/>
              </a:rPr>
              <a:t>OUR ADVANTAGE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3840480"/>
            <a:ext cx="5029200" cy="2377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E6FA8"/>
                </a:solidFill>
                <a:latin typeface="Calibri"/>
              </a:rPr>
              <a:t>•  </a:t>
            </a:r>
            <a:r>
              <a:rPr sz="1200">
                <a:solidFill>
                  <a:srgbClr val="1A1A1A"/>
                </a:solidFill>
                <a:latin typeface="Calibri"/>
              </a:rPr>
              <a:t>Explainable: every alert traces to its raw inputs. Sales reps and judges can audit.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E6FA8"/>
                </a:solidFill>
                <a:latin typeface="Calibri"/>
              </a:rPr>
              <a:t>•  </a:t>
            </a:r>
            <a:r>
              <a:rPr sz="1200">
                <a:solidFill>
                  <a:srgbClr val="1A1A1A"/>
                </a:solidFill>
                <a:latin typeface="Calibri"/>
              </a:rPr>
              <a:t>Defensible: every threshold is anchored to either an observation or a brief requirement.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E6FA8"/>
                </a:solidFill>
                <a:latin typeface="Calibri"/>
              </a:rPr>
              <a:t>•  </a:t>
            </a:r>
            <a:r>
              <a:rPr sz="1200">
                <a:solidFill>
                  <a:srgbClr val="1A1A1A"/>
                </a:solidFill>
                <a:latin typeface="Calibri"/>
              </a:rPr>
              <a:t>Fast: 5 seconds for 6,000 clients. Daily idempotent. Linear scaling.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2E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Calibri"/>
              </a:rPr>
              <a:t>Analytical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96012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Calibri"/>
              </a:rPr>
              <a:t>Two parallel logics · signals per case · noise filtering · priority scoring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5440680" cy="237744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6FA8"/>
                </a:solidFill>
                <a:latin typeface="Calibri"/>
              </a:rPr>
              <a:t>COMMODITIES — anaesthesia · biosecurity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  <a:latin typeface="Calibri"/>
              </a:rPr>
              <a:t>Recurring purchases · share-of-potential rule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50292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E6FA8"/>
                </a:solidFill>
                <a:latin typeface="Calibri"/>
              </a:rPr>
              <a:t>•  </a:t>
            </a:r>
            <a:r>
              <a:rPr sz="1100">
                <a:solidFill>
                  <a:srgbClr val="1A1A1A"/>
                </a:solidFill>
                <a:latin typeface="Calibri"/>
              </a:rPr>
              <a:t>Loyal ≥30%, Promiscuous 5-30%, Marginal &lt;5%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2E6FA8"/>
                </a:solidFill>
                <a:latin typeface="Calibri"/>
              </a:rPr>
              <a:t>•  </a:t>
            </a:r>
            <a:r>
              <a:rPr sz="1100">
                <a:solidFill>
                  <a:srgbClr val="1A1A1A"/>
                </a:solidFill>
                <a:latin typeface="Calibri"/>
              </a:rPr>
              <a:t>Lost: &gt;270d silent + cyclic-client filter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2E6FA8"/>
                </a:solidFill>
                <a:latin typeface="Calibri"/>
              </a:rPr>
              <a:t>•  </a:t>
            </a:r>
            <a:r>
              <a:rPr sz="1100">
                <a:solidFill>
                  <a:srgbClr val="1A1A1A"/>
                </a:solidFill>
                <a:latin typeface="Calibri"/>
              </a:rPr>
              <a:t>Trend: 6m current vs prior period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508760"/>
            <a:ext cx="5440680" cy="23774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6459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9D4E3"/>
                </a:solidFill>
                <a:latin typeface="Calibri"/>
              </a:rPr>
              <a:t>TECHNICAL — biomaterials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0116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Sporadic purchases · individual baseline + YoY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468880"/>
            <a:ext cx="50292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9D4E3"/>
                </a:solidFill>
                <a:latin typeface="Calibri"/>
              </a:rPr>
              <a:t>•  </a:t>
            </a:r>
            <a:r>
              <a:rPr sz="1100">
                <a:solidFill>
                  <a:srgbClr val="FFFFFF"/>
                </a:solidFill>
                <a:latin typeface="Calibri"/>
              </a:rPr>
              <a:t>Compare to client's OWN past pattern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C9D4E3"/>
                </a:solidFill>
                <a:latin typeface="Calibri"/>
              </a:rPr>
              <a:t>•  </a:t>
            </a:r>
            <a:r>
              <a:rPr sz="1100">
                <a:solidFill>
                  <a:srgbClr val="FFFFFF"/>
                </a:solidFill>
                <a:latin typeface="Calibri"/>
              </a:rPr>
              <a:t>4 signals: absent · drop_freq · drop_volume · anomaly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C9D4E3"/>
                </a:solidFill>
                <a:latin typeface="Calibri"/>
              </a:rPr>
              <a:t>•  </a:t>
            </a:r>
            <a:r>
              <a:rPr sz="1100">
                <a:solidFill>
                  <a:srgbClr val="FFFFFF"/>
                </a:solidFill>
                <a:latin typeface="Calibri"/>
              </a:rPr>
              <a:t>Year-over-year baseline neutralises August / Christmas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69080"/>
            <a:ext cx="6766560" cy="233172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251960"/>
            <a:ext cx="6309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6633"/>
                </a:solidFill>
                <a:latin typeface="Calibri"/>
              </a:rPr>
              <a:t>NOISE → SIGNAL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663440"/>
            <a:ext cx="6309360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2E6FA8"/>
                </a:solidFill>
                <a:latin typeface="Calibri"/>
              </a:rPr>
              <a:t>•  </a:t>
            </a:r>
            <a:r>
              <a:rPr sz="1100">
                <a:solidFill>
                  <a:srgbClr val="1A1A1A"/>
                </a:solidFill>
                <a:latin typeface="Calibri"/>
              </a:rPr>
              <a:t>Holiday flag suppresses August/Christmas drops unless YoY confirms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2E6FA8"/>
                </a:solidFill>
                <a:latin typeface="Calibri"/>
              </a:rPr>
              <a:t>•  </a:t>
            </a:r>
            <a:r>
              <a:rPr sz="1100">
                <a:solidFill>
                  <a:srgbClr val="1A1A1A"/>
                </a:solidFill>
                <a:latin typeface="Calibri"/>
              </a:rPr>
              <a:t>Post-campaign grace silences clients who just stocked up heavily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2E6FA8"/>
                </a:solidFill>
                <a:latin typeface="Calibri"/>
              </a:rPr>
              <a:t>•  </a:t>
            </a:r>
            <a:r>
              <a:rPr sz="1100">
                <a:solidFill>
                  <a:srgbClr val="1A1A1A"/>
                </a:solidFill>
                <a:latin typeface="Calibri"/>
              </a:rPr>
              <a:t>Outcome-driven snooze: 30d after won/lost/false_positive on same (cliente×fam×tipo)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2E6FA8"/>
                </a:solidFill>
                <a:latin typeface="Calibri"/>
              </a:rPr>
              <a:t>•  </a:t>
            </a:r>
            <a:r>
              <a:rPr sz="1100">
                <a:solidFill>
                  <a:srgbClr val="1A1A1A"/>
                </a:solidFill>
                <a:latin typeface="Calibri"/>
              </a:rPr>
              <a:t>Cyclic-client filter: lost only fires if client was ever truly cyclic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25512" y="4069080"/>
            <a:ext cx="4114800" cy="233172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99831" y="42519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6FA8"/>
                </a:solidFill>
                <a:latin typeface="Calibri"/>
              </a:rPr>
              <a:t>PRIORITY =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9831" y="4663440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Consolas"/>
              </a:rPr>
              <a:t>score = impact × urgency × conv_prob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9831" y="52578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All four prioritisation signals from the brief.
Higher score = higher in the daily call list.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2E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Calibri"/>
              </a:rPr>
              <a:t>Data, variables, assumptions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96012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Calibri"/>
              </a:rPr>
              <a:t>Datasets used · derived variables · what we assume · what we cannot observe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3657600" cy="512064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6FA8"/>
                </a:solidFill>
                <a:latin typeface="Calibri"/>
              </a:rPr>
              <a:t>DATASETS 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3200400" cy="2103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6FA8"/>
                </a:solidFill>
                <a:latin typeface="Calibri"/>
              </a:rPr>
              <a:t>•  </a:t>
            </a:r>
            <a:r>
              <a:rPr sz="1100">
                <a:solidFill>
                  <a:srgbClr val="1A1A1A"/>
                </a:solidFill>
                <a:latin typeface="Calibri"/>
              </a:rPr>
              <a:t>Ventas — 162K rows, 5 yrs, daily granularity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2E6FA8"/>
                </a:solidFill>
                <a:latin typeface="Calibri"/>
              </a:rPr>
              <a:t>•  </a:t>
            </a:r>
            <a:r>
              <a:rPr sz="1100">
                <a:solidFill>
                  <a:srgbClr val="1A1A1A"/>
                </a:solidFill>
                <a:latin typeface="Calibri"/>
              </a:rPr>
              <a:t>Clientes — 11K, postal code, province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2E6FA8"/>
                </a:solidFill>
                <a:latin typeface="Calibri"/>
              </a:rPr>
              <a:t>•  </a:t>
            </a:r>
            <a:r>
              <a:rPr sz="1100">
                <a:solidFill>
                  <a:srgbClr val="1A1A1A"/>
                </a:solidFill>
                <a:latin typeface="Calibri"/>
              </a:rPr>
              <a:t>Productos — 25 SKUs, 4 sub-families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2E6FA8"/>
                </a:solidFill>
                <a:latin typeface="Calibri"/>
              </a:rPr>
              <a:t>•  </a:t>
            </a:r>
            <a:r>
              <a:rPr sz="1100">
                <a:solidFill>
                  <a:srgbClr val="1A1A1A"/>
                </a:solidFill>
                <a:latin typeface="Calibri"/>
              </a:rPr>
              <a:t>Potencial — annual estimate per client × familia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2E6FA8"/>
                </a:solidFill>
                <a:latin typeface="Calibri"/>
              </a:rPr>
              <a:t>•  </a:t>
            </a:r>
            <a:r>
              <a:rPr sz="1100">
                <a:solidFill>
                  <a:srgbClr val="1A1A1A"/>
                </a:solidFill>
                <a:latin typeface="Calibri"/>
              </a:rPr>
              <a:t>Campañas — 10 promotional windows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4805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6FA8"/>
                </a:solidFill>
                <a:latin typeface="Calibri"/>
              </a:rPr>
              <a:t>DIRECT VARIABLES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46320"/>
            <a:ext cx="3200400" cy="1737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6FA8"/>
                </a:solidFill>
                <a:latin typeface="Calibri"/>
              </a:rPr>
              <a:t>•  </a:t>
            </a:r>
            <a:r>
              <a:rPr sz="1100">
                <a:solidFill>
                  <a:srgbClr val="1A1A1A"/>
                </a:solidFill>
                <a:latin typeface="Calibri"/>
              </a:rPr>
              <a:t>fecha · unidades · valores_h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2E6FA8"/>
                </a:solidFill>
                <a:latin typeface="Calibri"/>
              </a:rPr>
              <a:t>•  </a:t>
            </a:r>
            <a:r>
              <a:rPr sz="1100">
                <a:solidFill>
                  <a:srgbClr val="1A1A1A"/>
                </a:solidFill>
                <a:latin typeface="Calibri"/>
              </a:rPr>
              <a:t>id_cliente · id_producto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2E6FA8"/>
                </a:solidFill>
                <a:latin typeface="Calibri"/>
              </a:rPr>
              <a:t>•  </a:t>
            </a:r>
            <a:r>
              <a:rPr sz="1100">
                <a:solidFill>
                  <a:srgbClr val="1A1A1A"/>
                </a:solidFill>
                <a:latin typeface="Calibri"/>
              </a:rPr>
              <a:t>potencial_h · provincia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2E6FA8"/>
                </a:solidFill>
                <a:latin typeface="Calibri"/>
              </a:rPr>
              <a:t>•  </a:t>
            </a:r>
            <a:r>
              <a:rPr sz="1100">
                <a:solidFill>
                  <a:srgbClr val="1A1A1A"/>
                </a:solidFill>
                <a:latin typeface="Calibri"/>
              </a:rPr>
              <a:t>tipo_transaccion (cleaned)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1508760"/>
            <a:ext cx="3657600" cy="51206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6916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9D4E3"/>
                </a:solidFill>
                <a:latin typeface="Calibri"/>
              </a:rPr>
              <a:t>DERIVED VARIABLES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057400"/>
            <a:ext cx="320040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C9D4E3"/>
                </a:solidFill>
                <a:latin typeface="Calibri"/>
              </a:rPr>
              <a:t>•  </a:t>
            </a:r>
            <a:r>
              <a:rPr sz="1100">
                <a:solidFill>
                  <a:srgbClr val="FFFFFF"/>
                </a:solidFill>
                <a:latin typeface="Calibri"/>
              </a:rPr>
              <a:t>share_of_potential (trailing 12m)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C9D4E3"/>
                </a:solidFill>
                <a:latin typeface="Calibri"/>
              </a:rPr>
              <a:t>•  </a:t>
            </a:r>
            <a:r>
              <a:rPr sz="1100">
                <a:solidFill>
                  <a:srgbClr val="FFFFFF"/>
                </a:solidFill>
                <a:latin typeface="Calibri"/>
              </a:rPr>
              <a:t>mean_interpurchase_days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C9D4E3"/>
                </a:solidFill>
                <a:latin typeface="Calibri"/>
              </a:rPr>
              <a:t>•  </a:t>
            </a:r>
            <a:r>
              <a:rPr sz="1100">
                <a:solidFill>
                  <a:srgbClr val="FFFFFF"/>
                </a:solidFill>
                <a:latin typeface="Calibri"/>
              </a:rPr>
              <a:t>cyclicity_score · cycle_progress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C9D4E3"/>
                </a:solidFill>
                <a:latin typeface="Calibri"/>
              </a:rPr>
              <a:t>•  </a:t>
            </a:r>
            <a:r>
              <a:rPr sz="1100">
                <a:solidFill>
                  <a:srgbClr val="FFFFFF"/>
                </a:solidFill>
                <a:latin typeface="Calibri"/>
              </a:rPr>
              <a:t>recency_days · last_purchase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C9D4E3"/>
                </a:solidFill>
                <a:latin typeface="Calibri"/>
              </a:rPr>
              <a:t>•  </a:t>
            </a:r>
            <a:r>
              <a:rPr sz="1100">
                <a:solidFill>
                  <a:srgbClr val="FFFFFF"/>
                </a:solidFill>
                <a:latin typeface="Calibri"/>
              </a:rPr>
              <a:t>freq_drop_ratio · vol_drop_ratio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C9D4E3"/>
                </a:solidFill>
                <a:latin typeface="Calibri"/>
              </a:rPr>
              <a:t>•  </a:t>
            </a:r>
            <a:r>
              <a:rPr sz="1100">
                <a:solidFill>
                  <a:srgbClr val="FFFFFF"/>
                </a:solidFill>
                <a:latin typeface="Calibri"/>
              </a:rPr>
              <a:t>expected_freq_recent (YoY)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C9D4E3"/>
                </a:solidFill>
                <a:latin typeface="Calibri"/>
              </a:rPr>
              <a:t>•  </a:t>
            </a:r>
            <a:r>
              <a:rPr sz="1100">
                <a:solidFill>
                  <a:srgbClr val="FFFFFF"/>
                </a:solidFill>
                <a:latin typeface="Calibri"/>
              </a:rPr>
              <a:t>expected_vol_recent (YoY)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C9D4E3"/>
                </a:solidFill>
                <a:latin typeface="Calibri"/>
              </a:rPr>
              <a:t>•  </a:t>
            </a:r>
            <a:r>
              <a:rPr sz="1100">
                <a:solidFill>
                  <a:srgbClr val="FFFFFF"/>
                </a:solidFill>
                <a:latin typeface="Calibri"/>
              </a:rPr>
              <a:t>loyalty_tier · trend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C9D4E3"/>
                </a:solidFill>
                <a:latin typeface="Calibri"/>
              </a:rPr>
              <a:t>•  </a:t>
            </a:r>
            <a:r>
              <a:rPr sz="1100">
                <a:solidFill>
                  <a:srgbClr val="FFFFFF"/>
                </a:solidFill>
                <a:latin typeface="Calibri"/>
              </a:rPr>
              <a:t>conversion_probability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C9D4E3"/>
                </a:solidFill>
                <a:latin typeface="Calibri"/>
              </a:rPr>
              <a:t>•  </a:t>
            </a:r>
            <a:r>
              <a:rPr sz="1100">
                <a:solidFill>
                  <a:srgbClr val="FFFFFF"/>
                </a:solidFill>
                <a:latin typeface="Calibri"/>
              </a:rPr>
              <a:t>score = impact × urgency × conv_prob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4" y="1508760"/>
            <a:ext cx="3657600" cy="512064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4" y="16916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6633"/>
                </a:solidFill>
                <a:latin typeface="Calibri"/>
              </a:rPr>
              <a:t>KEY ASSUMPTIONS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0184" y="2057400"/>
            <a:ext cx="320040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6FA8"/>
                </a:solidFill>
                <a:latin typeface="Calibri"/>
              </a:rPr>
              <a:t>•  </a:t>
            </a:r>
            <a:r>
              <a:rPr sz="1100">
                <a:solidFill>
                  <a:srgbClr val="1A1A1A"/>
                </a:solidFill>
                <a:latin typeface="Calibri"/>
              </a:rPr>
              <a:t>Cyclicity inferred from purchase intervals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2E6FA8"/>
                </a:solidFill>
                <a:latin typeface="Calibri"/>
              </a:rPr>
              <a:t>•  </a:t>
            </a:r>
            <a:r>
              <a:rPr sz="1100">
                <a:solidFill>
                  <a:srgbClr val="1A1A1A"/>
                </a:solidFill>
                <a:latin typeface="Calibri"/>
              </a:rPr>
              <a:t>potencial_h is Inibsa's annual estimate (≥0)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2E6FA8"/>
                </a:solidFill>
                <a:latin typeface="Calibri"/>
              </a:rPr>
              <a:t>•  </a:t>
            </a:r>
            <a:r>
              <a:rPr sz="1100">
                <a:solidFill>
                  <a:srgbClr val="1A1A1A"/>
                </a:solidFill>
                <a:latin typeface="Calibri"/>
              </a:rPr>
              <a:t>Returns/zero-cost units flagged, not dropped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2E6FA8"/>
                </a:solidFill>
                <a:latin typeface="Calibri"/>
              </a:rPr>
              <a:t>•  </a:t>
            </a:r>
            <a:r>
              <a:rPr sz="1100">
                <a:solidFill>
                  <a:srgbClr val="1A1A1A"/>
                </a:solidFill>
                <a:latin typeface="Calibri"/>
              </a:rPr>
              <a:t>Unregistered clients flagged separately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4" y="42976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6633"/>
                </a:solidFill>
                <a:latin typeface="Calibri"/>
              </a:rPr>
              <a:t>WHAT WE CAN'T OBSERVE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4" y="4663440"/>
            <a:ext cx="32004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Competitor purchases are invisible. We INFER un-captured demand from the gap between observed sales and Inibsa's potential estimate. share_of_potential &lt;30% with active recent buying = promiscuous (split with competitors).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2E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Calibri"/>
              </a:rPr>
              <a:t>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96012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Calibri"/>
              </a:rPr>
              <a:t>Alert structure · what's inside · how it's surfaced to the sales team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6766560" cy="493776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6633"/>
                </a:solidFill>
                <a:latin typeface="Consolas"/>
              </a:rPr>
              <a:t>ONE ALERT — JSON-LIKE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6633"/>
                </a:solidFill>
                <a:latin typeface="Consolas"/>
              </a:rPr>
              <a:t>alert_id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210312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"ALT-20251229-000001"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86584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6633"/>
                </a:solidFill>
                <a:latin typeface="Consolas"/>
              </a:rPr>
              <a:t>id_cliente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38658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"40439"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7004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6633"/>
                </a:solidFill>
                <a:latin typeface="Consolas"/>
              </a:rPr>
              <a:t>provincia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67004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"Zaragoza"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95351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6633"/>
                </a:solidFill>
                <a:latin typeface="Consolas"/>
              </a:rPr>
              <a:t>familia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95351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"Categoria C2"  (Bioseguridad)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236976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6633"/>
                </a:solidFill>
                <a:latin typeface="Consolas"/>
              </a:rPr>
              <a:t>tipo_alerta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3236976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"capture_window"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52044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6633"/>
                </a:solidFill>
                <a:latin typeface="Consolas"/>
              </a:rPr>
              <a:t>category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352044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"sales_opportunity"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803904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6633"/>
                </a:solidFill>
                <a:latin typeface="Consolas"/>
              </a:rPr>
              <a:t>prioridad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380390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"High"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08736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6633"/>
                </a:solidFill>
                <a:latin typeface="Consolas"/>
              </a:rPr>
              <a:t>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408736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22,613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37083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6633"/>
                </a:solidFill>
                <a:latin typeface="Consolas"/>
              </a:rPr>
              <a:t>expected_impact_eur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437083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€2,496  (current × 0.5)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654296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6633"/>
                </a:solidFill>
                <a:latin typeface="Consolas"/>
              </a:rPr>
              <a:t>urgency_factor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4654296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0.70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9377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6633"/>
                </a:solidFill>
                <a:latin typeface="Consolas"/>
              </a:rPr>
              <a:t>conversion_probability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49377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0.83  (near-loyal)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221224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6633"/>
                </a:solidFill>
                <a:latin typeface="Consolas"/>
              </a:rPr>
              <a:t>canal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37560" y="522122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"delegado"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50468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6633"/>
                </a:solidFill>
                <a:latin typeface="Consolas"/>
              </a:rPr>
              <a:t>contact_window_days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37560" y="550468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6  (dynamic)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78815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6633"/>
                </a:solidFill>
                <a:latin typeface="Consolas"/>
              </a:rPr>
              <a:t>motivo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37560" y="578815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"Promiscuous client: 27% share..."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6071616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6633"/>
                </a:solidFill>
                <a:latin typeface="Consolas"/>
              </a:rPr>
              <a:t>trace_features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37560" y="6071616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onsolas"/>
              </a:rPr>
              <a:t>{ share: 0.27, current: 4,993, ... 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43800" y="16916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6FA8"/>
                </a:solidFill>
                <a:latin typeface="Calibri"/>
              </a:rPr>
              <a:t>HOW IT'S SURFACED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43800" y="2103120"/>
            <a:ext cx="4114800" cy="132588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543800" y="2103120"/>
            <a:ext cx="91440" cy="1325880"/>
          </a:xfrm>
          <a:prstGeom prst="rect">
            <a:avLst/>
          </a:prstGeom>
          <a:solidFill>
            <a:srgbClr val="2E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0" y="228600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  <a:latin typeface="Calibri"/>
              </a:rPr>
              <a:t>Streamlit dashboard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0" y="269748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3 tabs · Client view (4 categories) · Monitoring · Learning loop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543800" y="3566160"/>
            <a:ext cx="4114800" cy="132588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43800" y="3566160"/>
            <a:ext cx="91440" cy="1325880"/>
          </a:xfrm>
          <a:prstGeom prst="rect">
            <a:avLst/>
          </a:prstGeom>
          <a:solidFill>
            <a:srgbClr val="5A7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0" y="374904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  <a:latin typeface="Calibri"/>
              </a:rPr>
              <a:t>CSV / JSON export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416052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Filtered call list · HubSpot Tasks-shaped JSON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543800" y="5029200"/>
            <a:ext cx="4114800" cy="132588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543800" y="5029200"/>
            <a:ext cx="91440" cy="13258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0" y="52120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  <a:latin typeface="Calibri"/>
              </a:rPr>
              <a:t>Daily call list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0" y="562356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🔴 Lost · 🟠 Loss risk · 🟡 Sales opportunity · 🟢 Healthy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43800" y="6400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E6FA8"/>
                </a:solidFill>
                <a:latin typeface="Calibri"/>
              </a:rPr>
              <a:t>Every metric in trace_features → no black box.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2E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Calibri"/>
              </a:rPr>
              <a:t>Technical info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96012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Calibri"/>
              </a:rPr>
              <a:t>How we built it · language · environment · tooling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3657600" cy="512064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91440" cy="5120640"/>
          </a:xfrm>
          <a:prstGeom prst="rect">
            <a:avLst/>
          </a:prstGeom>
          <a:solidFill>
            <a:srgbClr val="2E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6FA8"/>
                </a:solidFill>
                <a:latin typeface="Calibri"/>
              </a:rPr>
              <a:t>HOW WE BUILT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320040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E6FA8"/>
                </a:solidFill>
                <a:latin typeface="Calibri"/>
              </a:rPr>
              <a:t>•  </a:t>
            </a:r>
            <a:r>
              <a:rPr sz="1200">
                <a:solidFill>
                  <a:srgbClr val="1A1A1A"/>
                </a:solidFill>
                <a:latin typeface="Calibri"/>
              </a:rPr>
              <a:t>AI-assisted (Claude Code) + manual review on every change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E6FA8"/>
                </a:solidFill>
                <a:latin typeface="Calibri"/>
              </a:rPr>
              <a:t>•  </a:t>
            </a:r>
            <a:r>
              <a:rPr sz="1200">
                <a:solidFill>
                  <a:srgbClr val="1A1A1A"/>
                </a:solidFill>
                <a:latin typeface="Calibri"/>
              </a:rPr>
              <a:t>13 PRs of clean git history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E6FA8"/>
                </a:solidFill>
                <a:latin typeface="Calibri"/>
              </a:rPr>
              <a:t>•  </a:t>
            </a:r>
            <a:r>
              <a:rPr sz="1200">
                <a:solidFill>
                  <a:srgbClr val="1A1A1A"/>
                </a:solidFill>
                <a:latin typeface="Calibri"/>
              </a:rPr>
              <a:t>21 smoke tests passing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E6FA8"/>
                </a:solidFill>
                <a:latin typeface="Calibri"/>
              </a:rPr>
              <a:t>•  </a:t>
            </a:r>
            <a:r>
              <a:rPr sz="1200">
                <a:solidFill>
                  <a:srgbClr val="1A1A1A"/>
                </a:solidFill>
                <a:latin typeface="Calibri"/>
              </a:rPr>
              <a:t>Cleaned dataset (5 sheets, 162K rows of Ventas)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508760"/>
            <a:ext cx="3657600" cy="512064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5112" y="1508760"/>
            <a:ext cx="91440" cy="5120640"/>
          </a:xfrm>
          <a:prstGeom prst="rect">
            <a:avLst/>
          </a:prstGeom>
          <a:solidFill>
            <a:srgbClr val="5A7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16916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A7A9A"/>
                </a:solidFill>
                <a:latin typeface="Calibri"/>
              </a:rPr>
              <a:t>LANGUAGE &amp;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148840"/>
            <a:ext cx="320040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E6FA8"/>
                </a:solidFill>
                <a:latin typeface="Calibri"/>
              </a:rPr>
              <a:t>•  </a:t>
            </a:r>
            <a:r>
              <a:rPr sz="1200">
                <a:solidFill>
                  <a:srgbClr val="1A1A1A"/>
                </a:solidFill>
                <a:latin typeface="Calibri"/>
              </a:rPr>
              <a:t>Python 3.10+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E6FA8"/>
                </a:solidFill>
                <a:latin typeface="Calibri"/>
              </a:rPr>
              <a:t>•  </a:t>
            </a:r>
            <a:r>
              <a:rPr sz="1200">
                <a:solidFill>
                  <a:srgbClr val="1A1A1A"/>
                </a:solidFill>
                <a:latin typeface="Calibri"/>
              </a:rPr>
              <a:t>pandas, numpy — analytics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E6FA8"/>
                </a:solidFill>
                <a:latin typeface="Calibri"/>
              </a:rPr>
              <a:t>•  </a:t>
            </a:r>
            <a:r>
              <a:rPr sz="1200">
                <a:solidFill>
                  <a:srgbClr val="1A1A1A"/>
                </a:solidFill>
                <a:latin typeface="Calibri"/>
              </a:rPr>
              <a:t>streamlit — interactive dashboard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E6FA8"/>
                </a:solidFill>
                <a:latin typeface="Calibri"/>
              </a:rPr>
              <a:t>•  </a:t>
            </a:r>
            <a:r>
              <a:rPr sz="1200">
                <a:solidFill>
                  <a:srgbClr val="1A1A1A"/>
                </a:solidFill>
                <a:latin typeface="Calibri"/>
              </a:rPr>
              <a:t>openpyxl — clean Excel I/O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2E6FA8"/>
                </a:solidFill>
                <a:latin typeface="Calibri"/>
              </a:rPr>
              <a:t>•  </a:t>
            </a:r>
            <a:r>
              <a:rPr sz="1200">
                <a:solidFill>
                  <a:srgbClr val="1A1A1A"/>
                </a:solidFill>
                <a:latin typeface="Calibri"/>
              </a:rPr>
              <a:t>python-pptx — programmatic deck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4" y="1508760"/>
            <a:ext cx="3657600" cy="51206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01584" y="1508760"/>
            <a:ext cx="91440" cy="51206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75904" y="16916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9D4E3"/>
                </a:solidFill>
                <a:latin typeface="Calibri"/>
              </a:rPr>
              <a:t>ENVIRONMENT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904" y="2148840"/>
            <a:ext cx="3200400" cy="4297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9D4E3"/>
                </a:solidFill>
                <a:latin typeface="Calibri"/>
              </a:rPr>
              <a:t>•  </a:t>
            </a:r>
            <a:r>
              <a:rPr sz="1200">
                <a:solidFill>
                  <a:srgbClr val="FFFFFF"/>
                </a:solidFill>
                <a:latin typeface="Calibri"/>
              </a:rPr>
              <a:t>macOS · Linux · Windows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C9D4E3"/>
                </a:solidFill>
                <a:latin typeface="Calibri"/>
              </a:rPr>
              <a:t>•  </a:t>
            </a:r>
            <a:r>
              <a:rPr sz="1200">
                <a:solidFill>
                  <a:srgbClr val="FFFFFF"/>
                </a:solidFill>
                <a:latin typeface="Calibri"/>
              </a:rPr>
              <a:t>Single command:  streamlit run src/dashboard.py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C9D4E3"/>
                </a:solidFill>
                <a:latin typeface="Calibri"/>
              </a:rPr>
              <a:t>•  </a:t>
            </a:r>
            <a:r>
              <a:rPr sz="1200">
                <a:solidFill>
                  <a:srgbClr val="FFFFFF"/>
                </a:solidFill>
                <a:latin typeface="Calibri"/>
              </a:rPr>
              <a:t>No internet required at runtime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C9D4E3"/>
                </a:solidFill>
                <a:latin typeface="Calibri"/>
              </a:rPr>
              <a:t>•  </a:t>
            </a:r>
            <a:r>
              <a:rPr sz="1200">
                <a:solidFill>
                  <a:srgbClr val="FFFFFF"/>
                </a:solidFill>
                <a:latin typeface="Calibri"/>
              </a:rPr>
              <a:t>Data + code self-contained in repo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C9D4E3"/>
                </a:solidFill>
                <a:latin typeface="Calibri"/>
              </a:rPr>
              <a:t>•  </a:t>
            </a:r>
            <a:r>
              <a:rPr sz="1200">
                <a:solidFill>
                  <a:srgbClr val="FFFFFF"/>
                </a:solidFill>
                <a:latin typeface="Calibri"/>
              </a:rPr>
              <a:t>≤5 sec daily compute for 6,000 clients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2E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Calibri"/>
              </a:rPr>
              <a:t>Day-to-day operation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96012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Calibri"/>
              </a:rPr>
              <a:t>Daily workflow · minimum architecture · 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6FA8"/>
                </a:solidFill>
                <a:latin typeface="Calibri"/>
              </a:rPr>
              <a:t>DAILY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777240" cy="4572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08:00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002536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Calibri"/>
              </a:rPr>
              <a:t>Engine runs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25856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Calibri"/>
              </a:rPr>
              <a:t>generate_alerts(today) — ~5 sec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532888"/>
            <a:ext cx="777240" cy="4572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78608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08:05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569464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Calibri"/>
              </a:rPr>
              <a:t>Sales team opens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825496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Calibri"/>
              </a:rPr>
              <a:t>Categories at a glance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099816"/>
            <a:ext cx="777240" cy="4572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145536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08:10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13639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Calibri"/>
              </a:rPr>
              <a:t>Sales rep clicks a client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392424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Calibri"/>
              </a:rPr>
              <a:t>Cycle status + reason + 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666744"/>
            <a:ext cx="777240" cy="4572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712464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7033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Calibri"/>
              </a:rPr>
              <a:t>Acts on alerts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95935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Calibri"/>
              </a:rPr>
              <a:t>Phone / visit / email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233672"/>
            <a:ext cx="777240" cy="4572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279392"/>
            <a:ext cx="777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27024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Calibri"/>
              </a:rPr>
              <a:t>Records outcome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52628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Calibri"/>
              </a:rPr>
              <a:t>won / lost / pending / no_contact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1554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6FA8"/>
                </a:solidFill>
                <a:latin typeface="Calibri"/>
              </a:rPr>
              <a:t>MINIMUM ARCHITECTURE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0" y="1965960"/>
            <a:ext cx="4572000" cy="777240"/>
          </a:xfrm>
          <a:prstGeom prst="roundRect">
            <a:avLst/>
          </a:prstGeom>
          <a:solidFill>
            <a:srgbClr val="2E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79" y="205740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Feedback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240487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alert_outcomes.csv → metrics → tuning</a:t>
            </a:r>
          </a:p>
        </p:txBody>
      </p:sp>
      <p:sp>
        <p:nvSpPr>
          <p:cNvPr id="31" name="Up Arrow 30"/>
          <p:cNvSpPr/>
          <p:nvPr/>
        </p:nvSpPr>
        <p:spPr>
          <a:xfrm>
            <a:off x="9418320" y="2743200"/>
            <a:ext cx="365760" cy="118872"/>
          </a:xfrm>
          <a:prstGeom prst="upArrow">
            <a:avLst/>
          </a:prstGeom>
          <a:solidFill>
            <a:srgbClr val="2E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315200" y="2834640"/>
            <a:ext cx="4572000" cy="7772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79" y="292608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Activation layer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327355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build_alerts → ranked, traceable</a:t>
            </a:r>
          </a:p>
        </p:txBody>
      </p:sp>
      <p:sp>
        <p:nvSpPr>
          <p:cNvPr id="35" name="Up Arrow 34"/>
          <p:cNvSpPr/>
          <p:nvPr/>
        </p:nvSpPr>
        <p:spPr>
          <a:xfrm>
            <a:off x="9418320" y="3611880"/>
            <a:ext cx="365760" cy="118872"/>
          </a:xfrm>
          <a:prstGeom prst="upArrow">
            <a:avLst/>
          </a:prstGeom>
          <a:solidFill>
            <a:srgbClr val="2E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315200" y="3703320"/>
            <a:ext cx="4572000" cy="777240"/>
          </a:xfrm>
          <a:prstGeom prst="roundRect">
            <a:avLst/>
          </a:prstGeom>
          <a:solidFill>
            <a:srgbClr val="5A7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79" y="379476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Analytical layer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414223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commodity_segments / technical_patterns</a:t>
            </a:r>
          </a:p>
        </p:txBody>
      </p:sp>
      <p:sp>
        <p:nvSpPr>
          <p:cNvPr id="39" name="Up Arrow 38"/>
          <p:cNvSpPr/>
          <p:nvPr/>
        </p:nvSpPr>
        <p:spPr>
          <a:xfrm>
            <a:off x="9418320" y="4480560"/>
            <a:ext cx="365760" cy="118872"/>
          </a:xfrm>
          <a:prstGeom prst="upArrow">
            <a:avLst/>
          </a:prstGeom>
          <a:solidFill>
            <a:srgbClr val="2E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315200" y="4572000"/>
            <a:ext cx="4572000" cy="777240"/>
          </a:xfrm>
          <a:prstGeom prst="roundRect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79" y="466344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Data layer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79" y="501091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cleaned CSVs (5 sheets)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B2A4A"/>
                </a:solidFill>
                <a:latin typeface="Calibri"/>
              </a:rPr>
              <a:t>🎬 Live demo: 3 minutes · pitch/demo_walkthrough_3min.md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AI-narrated demo video also available · pitch/video/Inibsa_Alert_Marker_demo.mp4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B2A4A"/>
                </a:solidFill>
                <a:latin typeface="Calibri"/>
              </a:rPr>
              <a:t>By the numbers · 8 of 8 deliverables shipped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3657600" cy="155448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1B2A4A"/>
                </a:solidFill>
                <a:latin typeface="Calibri"/>
              </a:rPr>
              <a:t>4,271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B6B6B"/>
                </a:solidFill>
                <a:latin typeface="Calibri"/>
              </a:rPr>
              <a:t>alerts generated today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463040"/>
            <a:ext cx="3657600" cy="155448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69164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1B2A4A"/>
                </a:solidFill>
                <a:latin typeface="Calibri"/>
              </a:rPr>
              <a:t>1,300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5603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B6B6B"/>
                </a:solidFill>
                <a:latin typeface="Calibri"/>
              </a:rPr>
              <a:t>High priority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463040"/>
            <a:ext cx="3657600" cy="155448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69164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1B2A4A"/>
                </a:solidFill>
                <a:latin typeface="Calibri"/>
              </a:rPr>
              <a:t>€11.6M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5603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B6B6B"/>
                </a:solidFill>
                <a:latin typeface="Calibri"/>
              </a:rPr>
              <a:t>expected commercial impact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291840"/>
            <a:ext cx="292608" cy="292608"/>
          </a:xfrm>
          <a:prstGeom prst="ellipse">
            <a:avLst/>
          </a:prstGeom>
          <a:solidFill>
            <a:srgbClr val="2E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9184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328416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Purchase prediction (commodities)</a:t>
            </a:r>
          </a:p>
        </p:txBody>
      </p:sp>
      <p:sp>
        <p:nvSpPr>
          <p:cNvPr id="15" name="Oval 14"/>
          <p:cNvSpPr/>
          <p:nvPr/>
        </p:nvSpPr>
        <p:spPr>
          <a:xfrm>
            <a:off x="6263640" y="3291840"/>
            <a:ext cx="292608" cy="292608"/>
          </a:xfrm>
          <a:prstGeom prst="ellipse">
            <a:avLst/>
          </a:prstGeom>
          <a:solidFill>
            <a:srgbClr val="2E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329184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3328416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Early churn-risk (technical)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3886200"/>
            <a:ext cx="292608" cy="292608"/>
          </a:xfrm>
          <a:prstGeom prst="ellipse">
            <a:avLst/>
          </a:prstGeom>
          <a:solidFill>
            <a:srgbClr val="2E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922776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Capture-window identification</a:t>
            </a:r>
          </a:p>
        </p:txBody>
      </p:sp>
      <p:sp>
        <p:nvSpPr>
          <p:cNvPr id="21" name="Oval 20"/>
          <p:cNvSpPr/>
          <p:nvPr/>
        </p:nvSpPr>
        <p:spPr>
          <a:xfrm>
            <a:off x="6263640" y="3886200"/>
            <a:ext cx="292608" cy="292608"/>
          </a:xfrm>
          <a:prstGeom prst="ellipse">
            <a:avLst/>
          </a:prstGeom>
          <a:solidFill>
            <a:srgbClr val="2E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922776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Interpretable, actionable alerts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" y="4480560"/>
            <a:ext cx="292608" cy="292608"/>
          </a:xfrm>
          <a:prstGeom prst="ellipse">
            <a:avLst/>
          </a:prstGeom>
          <a:solidFill>
            <a:srgbClr val="2E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48056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517136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Operational prioritisation</a:t>
            </a:r>
          </a:p>
        </p:txBody>
      </p:sp>
      <p:sp>
        <p:nvSpPr>
          <p:cNvPr id="27" name="Oval 26"/>
          <p:cNvSpPr/>
          <p:nvPr/>
        </p:nvSpPr>
        <p:spPr>
          <a:xfrm>
            <a:off x="6263640" y="4480560"/>
            <a:ext cx="292608" cy="292608"/>
          </a:xfrm>
          <a:prstGeom prst="ellipse">
            <a:avLst/>
          </a:prstGeom>
          <a:solidFill>
            <a:srgbClr val="2E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448056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4517136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Daily-operation proposal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" y="5074920"/>
            <a:ext cx="292608" cy="292608"/>
          </a:xfrm>
          <a:prstGeom prst="ellipse">
            <a:avLst/>
          </a:prstGeom>
          <a:solidFill>
            <a:srgbClr val="2E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0749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111496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Standalone-to-CRM evolution path</a:t>
            </a:r>
          </a:p>
        </p:txBody>
      </p:sp>
      <p:sp>
        <p:nvSpPr>
          <p:cNvPr id="33" name="Oval 32"/>
          <p:cNvSpPr/>
          <p:nvPr/>
        </p:nvSpPr>
        <p:spPr>
          <a:xfrm>
            <a:off x="6263640" y="5074920"/>
            <a:ext cx="292608" cy="292608"/>
          </a:xfrm>
          <a:prstGeom prst="ellipse">
            <a:avLst/>
          </a:prstGeom>
          <a:solidFill>
            <a:srgbClr val="2E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50749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5111496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Learning capability (feedback loop)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B2A4A"/>
                </a:solidFill>
                <a:latin typeface="Calibri"/>
              </a:rPr>
              <a:t>Thank you · Questions?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0" y="644652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Mythos Group · github.com/SH-SW/InterHack2026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